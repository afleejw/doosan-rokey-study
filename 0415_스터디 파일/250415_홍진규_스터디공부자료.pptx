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9C603-F389-5344-5C48-B8AD8077F5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ROs2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720684-C9CA-FAD2-0B65-FF08FBBA6D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저어어어어엉말</a:t>
            </a:r>
            <a:r>
              <a:rPr lang="ko-KR" altLang="en-US" dirty="0"/>
              <a:t> 간단하게 정리</a:t>
            </a:r>
          </a:p>
        </p:txBody>
      </p:sp>
    </p:spTree>
    <p:extLst>
      <p:ext uri="{BB962C8B-B14F-4D97-AF65-F5344CB8AC3E}">
        <p14:creationId xmlns:p14="http://schemas.microsoft.com/office/powerpoint/2010/main" val="1743401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6EA6D-42AB-258A-F1E6-A49187BE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ROS2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F7A1E0-117D-D0E1-A08C-265DBB4AFD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오픈소스 로봇 소프트웨어 프레임워크.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ROS1의 단점을 보완 (보안성, 실시간성, 멀티 플랫폼 지원).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DDS(데이터 분산 서비스)를 기반으로 한 통신 방식 사용.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산업용 로봇, 자율주행, 드론 등 다양한 분야에서 활용 가능</a:t>
            </a:r>
          </a:p>
        </p:txBody>
      </p:sp>
    </p:spTree>
    <p:extLst>
      <p:ext uri="{BB962C8B-B14F-4D97-AF65-F5344CB8AC3E}">
        <p14:creationId xmlns:p14="http://schemas.microsoft.com/office/powerpoint/2010/main" val="417662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45B2F-3B2F-8990-FFFA-437525B6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구성요소</a:t>
            </a:r>
          </a:p>
        </p:txBody>
      </p:sp>
      <p:graphicFrame>
        <p:nvGraphicFramePr>
          <p:cNvPr id="16" name="내용 개체 틀 15">
            <a:extLst>
              <a:ext uri="{FF2B5EF4-FFF2-40B4-BE49-F238E27FC236}">
                <a16:creationId xmlns:a16="http://schemas.microsoft.com/office/drawing/2014/main" id="{A0F77C58-5BA2-BDD1-9610-72DEF9C3A2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1628503"/>
              </p:ext>
            </p:extLst>
          </p:nvPr>
        </p:nvGraphicFramePr>
        <p:xfrm>
          <a:off x="1515392" y="1946564"/>
          <a:ext cx="7876778" cy="3496744"/>
        </p:xfrm>
        <a:graphic>
          <a:graphicData uri="http://schemas.openxmlformats.org/drawingml/2006/table">
            <a:tbl>
              <a:tblPr/>
              <a:tblGrid>
                <a:gridCol w="3938389">
                  <a:extLst>
                    <a:ext uri="{9D8B030D-6E8A-4147-A177-3AD203B41FA5}">
                      <a16:colId xmlns:a16="http://schemas.microsoft.com/office/drawing/2014/main" val="2377065359"/>
                    </a:ext>
                  </a:extLst>
                </a:gridCol>
                <a:gridCol w="3938389">
                  <a:extLst>
                    <a:ext uri="{9D8B030D-6E8A-4147-A177-3AD203B41FA5}">
                      <a16:colId xmlns:a16="http://schemas.microsoft.com/office/drawing/2014/main" val="3964069544"/>
                    </a:ext>
                  </a:extLst>
                </a:gridCol>
              </a:tblGrid>
              <a:tr h="299969">
                <a:tc>
                  <a:txBody>
                    <a:bodyPr/>
                    <a:lstStyle/>
                    <a:p>
                      <a:r>
                        <a:rPr lang="ko-KR" altLang="en-US" sz="1500"/>
                        <a:t>구성요소</a:t>
                      </a:r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설명</a:t>
                      </a:r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09972"/>
                  </a:ext>
                </a:extLst>
              </a:tr>
              <a:tr h="524945">
                <a:tc>
                  <a:txBody>
                    <a:bodyPr/>
                    <a:lstStyle/>
                    <a:p>
                      <a:r>
                        <a:rPr lang="en-US" sz="1500" b="1"/>
                        <a:t>Node</a:t>
                      </a:r>
                      <a:endParaRPr lang="en-US" sz="1500"/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작업 단위 프로세스</a:t>
                      </a:r>
                      <a:r>
                        <a:rPr lang="en-US" altLang="ko-KR" sz="1500"/>
                        <a:t>. </a:t>
                      </a:r>
                      <a:r>
                        <a:rPr lang="ko-KR" altLang="en-US" sz="1500"/>
                        <a:t>각 노드는 특정 기능 수행 </a:t>
                      </a:r>
                      <a:r>
                        <a:rPr lang="en-US" altLang="ko-KR" sz="1500"/>
                        <a:t>(ex. </a:t>
                      </a:r>
                      <a:r>
                        <a:rPr lang="ko-KR" altLang="en-US" sz="1500"/>
                        <a:t>센서 제어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이미지 처리 등</a:t>
                      </a:r>
                      <a:r>
                        <a:rPr lang="en-US" altLang="ko-KR" sz="1500"/>
                        <a:t>).</a:t>
                      </a:r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96879"/>
                  </a:ext>
                </a:extLst>
              </a:tr>
              <a:tr h="524945">
                <a:tc>
                  <a:txBody>
                    <a:bodyPr/>
                    <a:lstStyle/>
                    <a:p>
                      <a:r>
                        <a:rPr lang="en-US" sz="1500" b="1"/>
                        <a:t>Topic</a:t>
                      </a:r>
                      <a:endParaRPr lang="en-US" sz="1500"/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발행</a:t>
                      </a:r>
                      <a:r>
                        <a:rPr lang="en-US" altLang="ko-KR" sz="1500"/>
                        <a:t>/</a:t>
                      </a:r>
                      <a:r>
                        <a:rPr lang="ko-KR" altLang="en-US" sz="1500"/>
                        <a:t>구독</a:t>
                      </a:r>
                      <a:r>
                        <a:rPr lang="en-US" altLang="ko-KR" sz="1500"/>
                        <a:t>(Pub/Sub) </a:t>
                      </a:r>
                      <a:r>
                        <a:rPr lang="ko-KR" altLang="en-US" sz="1500"/>
                        <a:t>통신 방식</a:t>
                      </a:r>
                      <a:r>
                        <a:rPr lang="en-US" altLang="ko-KR" sz="1500"/>
                        <a:t>. </a:t>
                      </a:r>
                      <a:r>
                        <a:rPr lang="ko-KR" altLang="en-US" sz="1500"/>
                        <a:t>노드 간 메시지 전달에 사용됨</a:t>
                      </a:r>
                      <a:r>
                        <a:rPr lang="en-US" altLang="ko-KR" sz="1500"/>
                        <a:t>.</a:t>
                      </a:r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357743"/>
                  </a:ext>
                </a:extLst>
              </a:tr>
              <a:tr h="524945">
                <a:tc>
                  <a:txBody>
                    <a:bodyPr/>
                    <a:lstStyle/>
                    <a:p>
                      <a:r>
                        <a:rPr lang="en-US" sz="1500" b="1"/>
                        <a:t>Service</a:t>
                      </a:r>
                      <a:endParaRPr lang="en-US" sz="1500"/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요청</a:t>
                      </a:r>
                      <a:r>
                        <a:rPr lang="en-US" altLang="ko-KR" sz="1500"/>
                        <a:t>/</a:t>
                      </a:r>
                      <a:r>
                        <a:rPr lang="ko-KR" altLang="en-US" sz="1500"/>
                        <a:t>응답 방식 통신</a:t>
                      </a:r>
                      <a:r>
                        <a:rPr lang="en-US" altLang="ko-KR" sz="1500"/>
                        <a:t>. </a:t>
                      </a:r>
                      <a:r>
                        <a:rPr lang="ko-KR" altLang="en-US" sz="1500"/>
                        <a:t>클라이언트</a:t>
                      </a:r>
                      <a:r>
                        <a:rPr lang="en-US" altLang="ko-KR" sz="1500"/>
                        <a:t>-</a:t>
                      </a:r>
                      <a:r>
                        <a:rPr lang="ko-KR" altLang="en-US" sz="1500"/>
                        <a:t>서버 구조로 특정 기능 요청 시 사용</a:t>
                      </a:r>
                      <a:r>
                        <a:rPr lang="en-US" altLang="ko-KR" sz="1500"/>
                        <a:t>.</a:t>
                      </a:r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115783"/>
                  </a:ext>
                </a:extLst>
              </a:tr>
              <a:tr h="524945">
                <a:tc>
                  <a:txBody>
                    <a:bodyPr/>
                    <a:lstStyle/>
                    <a:p>
                      <a:r>
                        <a:rPr lang="en-US" sz="1500" b="1"/>
                        <a:t>Action</a:t>
                      </a:r>
                      <a:endParaRPr lang="en-US" sz="1500"/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시간이 오래 걸리는 작업을 위한 통신 방식</a:t>
                      </a:r>
                      <a:r>
                        <a:rPr lang="en-US" altLang="ko-KR" sz="1500"/>
                        <a:t>. </a:t>
                      </a:r>
                      <a:r>
                        <a:rPr lang="ko-KR" altLang="en-US" sz="1500"/>
                        <a:t>피드백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취소 등 지원</a:t>
                      </a:r>
                      <a:r>
                        <a:rPr lang="en-US" altLang="ko-KR" sz="1500"/>
                        <a:t>.</a:t>
                      </a:r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779371"/>
                  </a:ext>
                </a:extLst>
              </a:tr>
              <a:tr h="524945">
                <a:tc>
                  <a:txBody>
                    <a:bodyPr/>
                    <a:lstStyle/>
                    <a:p>
                      <a:r>
                        <a:rPr lang="en-US" sz="1500" b="1"/>
                        <a:t>Parameter</a:t>
                      </a:r>
                      <a:endParaRPr lang="en-US" sz="1500"/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노드의 설정 값을 정의 및 수정 가능</a:t>
                      </a:r>
                      <a:r>
                        <a:rPr lang="en-US" altLang="ko-KR" sz="1500"/>
                        <a:t>. </a:t>
                      </a:r>
                      <a:r>
                        <a:rPr lang="ko-KR" altLang="en-US" sz="1500"/>
                        <a:t>런타임 중 동적 조정도 가능</a:t>
                      </a:r>
                      <a:r>
                        <a:rPr lang="en-US" altLang="ko-KR" sz="1500"/>
                        <a:t>.</a:t>
                      </a:r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913259"/>
                  </a:ext>
                </a:extLst>
              </a:tr>
              <a:tr h="524945">
                <a:tc>
                  <a:txBody>
                    <a:bodyPr/>
                    <a:lstStyle/>
                    <a:p>
                      <a:r>
                        <a:rPr lang="en-US" sz="1500" b="1"/>
                        <a:t>Launch file</a:t>
                      </a:r>
                      <a:endParaRPr lang="en-US" sz="1500"/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여러 노드를 동시에 실행시키는 스크립트 </a:t>
                      </a:r>
                      <a:r>
                        <a:rPr lang="en-US" altLang="ko-KR" sz="1500" dirty="0"/>
                        <a:t>(XML, Python </a:t>
                      </a:r>
                      <a:r>
                        <a:rPr lang="ko-KR" altLang="en-US" sz="1500" dirty="0"/>
                        <a:t>등으로 작성</a:t>
                      </a:r>
                      <a:r>
                        <a:rPr lang="en-US" altLang="ko-KR" sz="1500" dirty="0"/>
                        <a:t>).</a:t>
                      </a:r>
                    </a:p>
                  </a:txBody>
                  <a:tcPr marL="74992" marR="74992" marT="37496" marB="374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339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012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B2E78-BEEF-0372-58C2-DF634554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ROS1 VS ROS2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45CD8A3-6EAC-416E-81D5-83FF0F460E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506504"/>
          <a:ext cx="9604374" cy="2468880"/>
        </p:xfrm>
        <a:graphic>
          <a:graphicData uri="http://schemas.openxmlformats.org/drawingml/2006/table">
            <a:tbl>
              <a:tblPr/>
              <a:tblGrid>
                <a:gridCol w="3201458">
                  <a:extLst>
                    <a:ext uri="{9D8B030D-6E8A-4147-A177-3AD203B41FA5}">
                      <a16:colId xmlns:a16="http://schemas.microsoft.com/office/drawing/2014/main" val="743177327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838656901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742173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ROS2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858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통신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자체 구현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DDS </a:t>
                      </a:r>
                      <a:r>
                        <a:rPr lang="ko-KR" altLang="en-US"/>
                        <a:t>기반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218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플랫폼 지원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Linux </a:t>
                      </a:r>
                      <a:r>
                        <a:rPr lang="ko-KR" altLang="en-US"/>
                        <a:t>중심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Linux, Windows, macOS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24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보안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DDS </a:t>
                      </a:r>
                      <a:r>
                        <a:rPr lang="ko-KR" altLang="en-US"/>
                        <a:t>보안 지원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583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실시간성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제한적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RT </a:t>
                      </a:r>
                      <a:r>
                        <a:rPr lang="ko-KR" altLang="en-US"/>
                        <a:t>지원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692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개발 언어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Python, C++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Python, C++ (Rust, Java </a:t>
                      </a:r>
                      <a:r>
                        <a:rPr lang="ko-KR" altLang="en-US" dirty="0"/>
                        <a:t>일부 가능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860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108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7700D-7B65-7C44-C2FB-915BCC9D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간단예제</a:t>
            </a:r>
            <a:r>
              <a:rPr lang="ko-KR" altLang="en-US" dirty="0"/>
              <a:t> 모음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681D8E-9A86-39FD-A39F-B1DAAC4AC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ros2 –version</a:t>
            </a:r>
          </a:p>
          <a:p>
            <a:pPr marL="0" indent="0">
              <a:buNone/>
            </a:pPr>
            <a:r>
              <a:rPr lang="en-US" altLang="ko-KR" dirty="0"/>
              <a:t>ROS2</a:t>
            </a:r>
            <a:r>
              <a:rPr lang="ko-KR" altLang="en-US" dirty="0"/>
              <a:t>가 정상적으로 설치되었는지 확인</a:t>
            </a:r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거북이 </a:t>
            </a:r>
            <a:r>
              <a:rPr lang="ko-KR" altLang="en-US" dirty="0" err="1"/>
              <a:t>시뮬</a:t>
            </a:r>
            <a:r>
              <a:rPr lang="ko-KR" altLang="en-US" dirty="0"/>
              <a:t> 실행</a:t>
            </a:r>
          </a:p>
          <a:p>
            <a:pPr marL="0" indent="0">
              <a:buNone/>
            </a:pPr>
            <a:r>
              <a:rPr lang="en-US" altLang="ko-KR" dirty="0"/>
              <a:t>ros2 run </a:t>
            </a:r>
            <a:r>
              <a:rPr lang="en-US" altLang="ko-KR" dirty="0" err="1"/>
              <a:t>turtlesim</a:t>
            </a:r>
            <a:r>
              <a:rPr lang="en-US" altLang="ko-KR" dirty="0"/>
              <a:t> </a:t>
            </a:r>
            <a:r>
              <a:rPr lang="en-US" altLang="ko-KR" dirty="0" err="1"/>
              <a:t>turtlesim_node</a:t>
            </a:r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키보드로 거북이 조종하기</a:t>
            </a:r>
          </a:p>
          <a:p>
            <a:pPr marL="0" indent="0">
              <a:buNone/>
            </a:pPr>
            <a:r>
              <a:rPr lang="en-US" altLang="ko-KR" dirty="0"/>
              <a:t>ros2 run </a:t>
            </a:r>
            <a:r>
              <a:rPr lang="en-US" altLang="ko-KR" dirty="0" err="1"/>
              <a:t>turtlesim</a:t>
            </a:r>
            <a:r>
              <a:rPr lang="en-US" altLang="ko-KR" dirty="0"/>
              <a:t> </a:t>
            </a:r>
            <a:r>
              <a:rPr lang="en-US" altLang="ko-KR" dirty="0" err="1"/>
              <a:t>turtle_teleop_key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543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64CBD-90A3-68D7-A6E2-C3159AFF2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로봇에서 사용하는 좌표 회전표현에는 어떤 종류가 있는지 간략하게 작성해보세요.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565888-1E32-3DFB-5E95-AFEDB3E3D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800" b="1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Rotation</a:t>
            </a:r>
            <a:r>
              <a:rPr lang="ko-KR" altLang="ko-KR" sz="1800" b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800" b="1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Matrix</a:t>
            </a:r>
            <a:r>
              <a:rPr lang="ko-KR" altLang="ko-KR" sz="1800" b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(회전 행렬)</a:t>
            </a:r>
            <a:b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3×3 행렬로 회전을 표현. 직관적이지만 중첩 계산 시 복잡해질 수 있음.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800" b="1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Euler</a:t>
            </a:r>
            <a:r>
              <a:rPr lang="ko-KR" altLang="ko-KR" sz="1800" b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800" b="1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Angle</a:t>
            </a:r>
            <a:r>
              <a:rPr lang="ko-KR" altLang="ko-KR" sz="1800" b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(</a:t>
            </a:r>
            <a:r>
              <a:rPr lang="ko-KR" altLang="ko-KR" sz="1800" b="1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오일러</a:t>
            </a:r>
            <a:r>
              <a:rPr lang="ko-KR" altLang="ko-KR" sz="1800" b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각)</a:t>
            </a:r>
            <a:b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ko-KR" sz="18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Roll</a:t>
            </a: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ko-KR" sz="18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Pitch</a:t>
            </a: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ko-KR" sz="18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Yaw</a:t>
            </a: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3개의 각도로 회전 표현. 간단하지만 </a:t>
            </a:r>
            <a:r>
              <a:rPr lang="ko-KR" altLang="ko-KR" sz="18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Gimbal</a:t>
            </a: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8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Lock</a:t>
            </a: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문제가 있음.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800" b="1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Quaternion</a:t>
            </a:r>
            <a:r>
              <a:rPr lang="ko-KR" altLang="ko-KR" sz="1800" b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(</a:t>
            </a:r>
            <a:r>
              <a:rPr lang="ko-KR" altLang="ko-KR" sz="1800" b="1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쿼터니언</a:t>
            </a:r>
            <a:r>
              <a:rPr lang="ko-KR" altLang="ko-KR" sz="1800" b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b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복소수 기반 4차원 표현. 계산 효율이 높고 </a:t>
            </a:r>
            <a:r>
              <a:rPr lang="ko-KR" altLang="ko-KR" sz="18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Gimbal</a:t>
            </a: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8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Lock</a:t>
            </a: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문제 없음. </a:t>
            </a:r>
            <a:r>
              <a:rPr lang="ko-KR" altLang="ko-KR" sz="18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ROS에서</a:t>
            </a: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자주 사용됨.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800" b="1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Axis-Angle</a:t>
            </a:r>
            <a:r>
              <a:rPr lang="ko-KR" altLang="ko-KR" sz="1800" b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(축-각 표현)</a:t>
            </a:r>
            <a:b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회전할 축과 각도를 이용한 표현. 직관적이지만 실용성은 </a:t>
            </a:r>
            <a:r>
              <a:rPr lang="ko-KR" altLang="ko-KR" sz="18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Quaternion에</a:t>
            </a: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</a:rPr>
              <a:t> 비해 떨어짐.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5462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2E81E-E29D-7DFB-102C-9EF630CE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ROS2 </a:t>
            </a:r>
            <a:r>
              <a:rPr lang="ko-KR" altLang="en-US" dirty="0"/>
              <a:t>주요 개념 </a:t>
            </a:r>
            <a:r>
              <a:rPr lang="en-US" altLang="ko-KR" dirty="0"/>
              <a:t>&amp; </a:t>
            </a:r>
            <a:r>
              <a:rPr lang="ko-KR" altLang="en-US" dirty="0"/>
              <a:t>알아야 할 핵심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C5F05-D45F-C1F6-EAD8-EEF4A90B0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Node (</a:t>
            </a:r>
            <a:r>
              <a:rPr lang="ko-KR" altLang="en-US" b="1" dirty="0"/>
              <a:t>노드</a:t>
            </a:r>
            <a:r>
              <a:rPr lang="en-US" altLang="ko-KR" b="1" dirty="0"/>
              <a:t>)</a:t>
            </a:r>
            <a:endParaRPr lang="en-US" altLang="ko-KR" dirty="0"/>
          </a:p>
          <a:p>
            <a:r>
              <a:rPr lang="ko-KR" altLang="en-US" dirty="0"/>
              <a:t>특정 기능을 수행하는 하나의 실행 단위</a:t>
            </a:r>
            <a:r>
              <a:rPr lang="en-US" altLang="ko-KR" dirty="0"/>
              <a:t>(</a:t>
            </a:r>
            <a:r>
              <a:rPr lang="ko-KR" altLang="en-US" dirty="0"/>
              <a:t>프로세스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예시</a:t>
            </a:r>
            <a:r>
              <a:rPr lang="en-US" altLang="ko-KR" dirty="0"/>
              <a:t>:</a:t>
            </a:r>
            <a:r>
              <a:rPr lang="ko-KR" altLang="en-US" dirty="0"/>
              <a:t>카메라제어 노드</a:t>
            </a:r>
            <a:r>
              <a:rPr lang="en-US" altLang="ko-KR" dirty="0"/>
              <a:t>,</a:t>
            </a:r>
            <a:r>
              <a:rPr lang="ko-KR" altLang="en-US" dirty="0"/>
              <a:t>이미지 처리 노드</a:t>
            </a:r>
            <a:r>
              <a:rPr lang="en-US" altLang="ko-KR" dirty="0"/>
              <a:t>, </a:t>
            </a:r>
            <a:r>
              <a:rPr lang="ko-KR" altLang="en-US" dirty="0"/>
              <a:t>모터제어 등</a:t>
            </a:r>
            <a:endParaRPr lang="en-US" altLang="ko-KR" dirty="0"/>
          </a:p>
          <a:p>
            <a:r>
              <a:rPr lang="ko-KR" altLang="en-US" dirty="0"/>
              <a:t>명령어 예시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/>
              <a:t>ros2 run </a:t>
            </a:r>
            <a:r>
              <a:rPr lang="en-US" altLang="ko-KR" dirty="0" err="1"/>
              <a:t>turtlesim</a:t>
            </a:r>
            <a:r>
              <a:rPr lang="en-US" altLang="ko-KR" dirty="0"/>
              <a:t> </a:t>
            </a:r>
            <a:r>
              <a:rPr lang="en-US" altLang="ko-KR" dirty="0" err="1"/>
              <a:t>turtlesim_node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7642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A9186-6AEE-CDC0-BABD-2C5CFF22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ROS2 </a:t>
            </a:r>
            <a:r>
              <a:rPr lang="ko-KR" altLang="en-US" dirty="0"/>
              <a:t>주요 개념 </a:t>
            </a:r>
            <a:r>
              <a:rPr lang="en-US" altLang="ko-KR" dirty="0"/>
              <a:t>&amp; </a:t>
            </a:r>
            <a:r>
              <a:rPr lang="ko-KR" altLang="en-US" dirty="0"/>
              <a:t>알아야 할 핵심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4F01B-F10C-7711-2D68-61369080F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9752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ko-KR" b="1" dirty="0"/>
              <a:t>Topic (</a:t>
            </a:r>
            <a:r>
              <a:rPr lang="ko-KR" altLang="en-US" b="1" dirty="0"/>
              <a:t>토픽</a:t>
            </a:r>
            <a:r>
              <a:rPr lang="en-US" altLang="ko-KR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노드 간 </a:t>
            </a:r>
            <a:r>
              <a:rPr lang="ko-KR" altLang="en-US" b="1" dirty="0"/>
              <a:t>데이터를 주고받는 채널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Pub-Sub </a:t>
            </a:r>
            <a:r>
              <a:rPr lang="ko-KR" altLang="en-US" b="1" dirty="0"/>
              <a:t>구조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Publisher: </a:t>
            </a:r>
            <a:r>
              <a:rPr lang="ko-KR" altLang="en-US" dirty="0"/>
              <a:t>데이터를 보내는 쪽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Subscriber: </a:t>
            </a:r>
            <a:r>
              <a:rPr lang="ko-KR" altLang="en-US" dirty="0"/>
              <a:t>데이터를 받는 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주로 센서 데이터</a:t>
            </a:r>
            <a:r>
              <a:rPr lang="en-US" altLang="ko-KR" b="1" dirty="0"/>
              <a:t>, </a:t>
            </a:r>
            <a:r>
              <a:rPr lang="ko-KR" altLang="en-US" b="1" dirty="0"/>
              <a:t>상태 전달 등에 사용됨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dirty="0"/>
              <a:t>ros2 topic list</a:t>
            </a:r>
          </a:p>
          <a:p>
            <a:pPr marL="0" indent="0">
              <a:buNone/>
            </a:pPr>
            <a:r>
              <a:rPr lang="en-US" altLang="ko-KR" dirty="0"/>
              <a:t>ros2 topic echo /</a:t>
            </a:r>
            <a:r>
              <a:rPr lang="en-US" altLang="ko-KR" dirty="0" err="1"/>
              <a:t>topic_name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ros2 topic pub /</a:t>
            </a:r>
            <a:r>
              <a:rPr lang="en-US" altLang="ko-KR" dirty="0" err="1"/>
              <a:t>topic_name</a:t>
            </a:r>
            <a:r>
              <a:rPr lang="en-US" altLang="ko-KR" dirty="0"/>
              <a:t> </a:t>
            </a:r>
            <a:r>
              <a:rPr lang="en-US" altLang="ko-KR" dirty="0" err="1"/>
              <a:t>std_msgs</a:t>
            </a:r>
            <a:r>
              <a:rPr lang="en-US" altLang="ko-KR" dirty="0"/>
              <a:t>/String "data: 'Hello'"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3424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270AE-0C0B-3BDC-128F-351C786FE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ko-KR" sz="32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 Unicode MS" panose="020B0604020202020204" pitchFamily="50" charset="-127"/>
              </a:rPr>
              <a:t>ROS2에서 서비스(Service)는 어떤 통신 방식으로 옳은 것은 무엇인가요?</a:t>
            </a:r>
            <a:br>
              <a:rPr lang="ko-KR" altLang="ko-K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8953DD-005B-A0A2-FDB2-4A8255A15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 Unicode MS" panose="020B0604020202020204" pitchFamily="50" charset="-127"/>
              </a:rPr>
              <a:t>1) 비동기식 단방향 통신 방식</a:t>
            </a:r>
            <a:endParaRPr lang="ko-KR" altLang="ko-K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 Unicode MS" panose="020B0604020202020204" pitchFamily="50" charset="-127"/>
              </a:rPr>
              <a:t>2) 동기식 양방향 통신 방식</a:t>
            </a:r>
            <a:endParaRPr lang="ko-KR" altLang="ko-K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 Unicode MS" panose="020B0604020202020204" pitchFamily="50" charset="-127"/>
              </a:rPr>
              <a:t>3) 단방향 </a:t>
            </a:r>
            <a:r>
              <a:rPr lang="ko-KR" altLang="ko-KR" sz="18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 Unicode MS" panose="020B0604020202020204" pitchFamily="50" charset="-127"/>
              </a:rPr>
              <a:t>브로드캐스트</a:t>
            </a: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 Unicode MS" panose="020B0604020202020204" pitchFamily="50" charset="-127"/>
              </a:rPr>
              <a:t> 방식</a:t>
            </a:r>
            <a:endParaRPr lang="ko-KR" altLang="ko-K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 Unicode MS" panose="020B0604020202020204" pitchFamily="50" charset="-127"/>
              </a:rPr>
              <a:t>4) 비동기식 양방향 통신 방식</a:t>
            </a:r>
            <a:endParaRPr lang="ko-KR" altLang="ko-K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-KR" altLang="ko-KR" sz="18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Arial Unicode MS" panose="020B0604020202020204" pitchFamily="50" charset="-127"/>
              </a:rPr>
              <a:t>5) 다중 채널 병렬 통신 방식</a:t>
            </a:r>
            <a:endParaRPr lang="en-US" altLang="ko-KR" sz="1800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Arial Unicode MS" panose="020B0604020202020204" pitchFamily="50" charset="-127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ko-KR" altLang="ko-K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482773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{B60E5268-854C-43C5-A190-951C8AF3B66C}tf10001114</Template>
  <TotalTime>32</TotalTime>
  <Words>482</Words>
  <Application>Microsoft Office PowerPoint</Application>
  <PresentationFormat>와이드스크린</PresentationFormat>
  <Paragraphs>75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Arial</vt:lpstr>
      <vt:lpstr>Gill Sans MT</vt:lpstr>
      <vt:lpstr>Symbol</vt:lpstr>
      <vt:lpstr>Times New Roman</vt:lpstr>
      <vt:lpstr>갤러리</vt:lpstr>
      <vt:lpstr>ROs2</vt:lpstr>
      <vt:lpstr>ROS2</vt:lpstr>
      <vt:lpstr>주요 구성요소</vt:lpstr>
      <vt:lpstr>ROS1 VS ROS2</vt:lpstr>
      <vt:lpstr>간단예제 모음</vt:lpstr>
      <vt:lpstr>로봇에서 사용하는 좌표 회전표현에는 어떤 종류가 있는지 간략하게 작성해보세요.</vt:lpstr>
      <vt:lpstr>ROS2 주요 개념 &amp; 알아야 할 핵심 내용</vt:lpstr>
      <vt:lpstr>ROS2 주요 개념 &amp; 알아야 할 핵심 내용</vt:lpstr>
      <vt:lpstr>ROS2에서 서비스(Service)는 어떤 통신 방식으로 옳은 것은 무엇인가요?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진규 홍</dc:creator>
  <cp:lastModifiedBy>진규 홍</cp:lastModifiedBy>
  <cp:revision>1</cp:revision>
  <dcterms:created xsi:type="dcterms:W3CDTF">2025-04-15T12:55:49Z</dcterms:created>
  <dcterms:modified xsi:type="dcterms:W3CDTF">2025-04-15T13:28:04Z</dcterms:modified>
</cp:coreProperties>
</file>